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OnlineBookStore_SQL_Solutions_Ready_for_GitHub.pdf, supplied project document. Questions and SQL retain the source wording. Dataset observations are reported from the PDF and were not independently recalculated.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7. Screenshot result shown as provided. Visible excerpt: Fiction titles returned by the Genre filter.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2. Screenshot result shown as provided. Visible excerpt: all displayed publication years are later than 1950.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5. Screenshot result shown as provided. 3 Canadian customers are visible in the result grid.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11. Screenshot result shown as provided. Visible excerpt: order dates fall within November 2023.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9. Screenshot result shown as provided. Total stock: 25,056 books.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4. Screenshot result shown as provided. Most expensive book: $49.98, Book_ID 340.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10. Screenshot result shown as provided. Visible excerpt: quantities are 2, sorted in ascending order.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8. Screenshot result shown as provided. Visible excerpt: each displayed order amount exceeds $20.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6. Screenshot result shown as provided. 7 genres: Biography, Fantasy, Non-Fiction, Fiction, Romance, Science Fiction and Mystery.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3. Screenshot result shown as provided. Lowest stock: 0 units, Book_ID 44.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1. Screenshot result shown as provided. Recorded revenue in this query run: $36,445.58.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18. Screenshot result shown as provided. Science Fiction leads with 226 units; the seven genre totals sum to 1,304.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13. Screenshot result shown as provided. Fantasy average price: $25.981690, approximately $25.98.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16. Screenshot result shown as provided. Visible excerpt: Carrie Perez has 6 orders, followed by Anthony Young with 5.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15. Screenshot result shown as provided. Robust tangible hardware (Book_ID 88) appears in 4 order records.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20. Screenshot result shown as provided. Top Fantasy prices: $49.90, $49.23 and $48.97.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19. Screenshot result shown as provided. Visible excerpt: Patrick Contreras leads with 28 units, followed by Melissa Taylor with 27.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17. Screenshot result shown as provided. Visible excerpt: cities associated with individual orders above $30.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14. Screenshot result shown as provided. Highest total spend: Kim Turner (Customer_ID 457), $1,398.90.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Calculate the total revenue generated from all orders.pdf, page 12. Screenshot result shown as provided. Visible excerpt: Book_ID 1 has 97 units remaining (100 stock minus 3 sold). Query text follows the previous project PDF except Basic 1 uses Genre as executed in screenshot, and Basic 7 includes the screenshot ORDER BY. Screenshots may show only the visible part of a result set. Original screenshot is embedded with a display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screenshots PDF. Revenue page 1; stock page 9; genre units page 18; top customer page 14; popular book page 15; low stock page 3; high price page 4; Fantasy average page 13. Total genre units calculated as 158 + 220 + 226 + 214 + 207 + 149 + 130 = 1,304. Earlier PDF figures differ and are not combined with these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screenshots PDF. Revenue page 1; stock page 9; genre units page 18; top customer page 14; popular book page 15; low stock page 3; high price page 4; Fantasy average page 13. Total genre units calculated as 158 + 220 + 226 + 214 + 207 + 149 + 130 = 1,304. Earlier PDF figures differ and are not combined with these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screenshots PDF. Revenue page 1; stock page 9; genre units page 18; top customer page 14; popular book page 15; low stock page 3; high price page 4; Fantasy average page 13. Total genre units calculated as 158 + 220 + 226 + 214 + 207 + 149 + 130 = 1,304. Earlier PDF figures differ and are not combined with these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screenshots PDF. Revenue page 1; stock page 9; genre units page 18; top customer page 14; popular book page 15; low stock page 3; high price page 4; Fantasy average page 13. Total genre units calculated as 158 + 220 + 226 + 214 + 207 + 149 + 130 = 1,304. Earlier PDF figures differ and are not combined with these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69BC087-BAF9-410E-849F-5A5E1445F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CA09CA0-462E-4091-8CEE-7278E0C9C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B01EFF0-D818-427F-A36F-56BE3F384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FDA8450-5D34-4D6F-A5C3-8669F2244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E1445D7-2D37-4804-9EB6-ADA72B809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A88AED8-8731-4136-8377-35DB79A4D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53138F9-8A95-41FF-BDE9-1693A517F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C438830-6179-4614-B788-F8965131C01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DC09656-06E4-46DC-B060-FF8BB32C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D138B7D-C989-46DE-8DCD-7A6AF034A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number">
            <a:extLst>
              <a:ext uri="{FF2B5EF4-FFF2-40B4-BE49-F238E27FC236}">
                <a16:creationId xmlns:a16="http://schemas.microsoft.com/office/drawing/2014/main" id="{BBAD4DB5-EA93-4571-83F9-6629134BCC7B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2" name="cover-label">
            <a:extLst>
              <a:ext uri="{FF2B5EF4-FFF2-40B4-BE49-F238E27FC236}">
                <a16:creationId xmlns:a16="http://schemas.microsoft.com/office/drawing/2014/main" id="{0BB13DE4-BC78-4395-80F6-93A0702CC6C9}"/>
              </a:ext>
            </a:extLst>
          </p:cNvPr>
          <p:cNvSpPr>
            <a:spLocks noGrp="1"/>
          </p:cNvSpPr>
          <p:nvPr/>
        </p:nvSpPr>
        <p:spPr>
          <a:xfrm>
            <a:off x="723900" y="952500"/>
            <a:ext cx="1047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65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65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65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65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65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65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65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65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65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65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MYSQL DATA ANALYSIS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A8689FEB-EB4C-4F50-B5CE-E2A077E55A86}"/>
              </a:ext>
            </a:extLst>
          </p:cNvPr>
          <p:cNvSpPr>
            <a:spLocks noGrp="1"/>
          </p:cNvSpPr>
          <p:nvPr/>
        </p:nvSpPr>
        <p:spPr>
          <a:xfrm>
            <a:off x="723900" y="1857375"/>
            <a:ext cx="106680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570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570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570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570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570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570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570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570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570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570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570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OnlineBookStore</a:t>
            </a:r>
          </a:p>
          <a:p>
            <a:pPr>
              <a:lnSpc>
                <a:spcPct val="115000"/>
              </a:lnSpc>
              <a:buNone/>
              <a:defRPr sz="570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SQL Project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35F8DB9C-E2C4-4A4A-B969-1E9661968875}"/>
              </a:ext>
            </a:extLst>
          </p:cNvPr>
          <p:cNvSpPr>
            <a:spLocks noGrp="1"/>
          </p:cNvSpPr>
          <p:nvPr/>
        </p:nvSpPr>
        <p:spPr>
          <a:xfrm>
            <a:off x="762000" y="4238625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400" b="0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0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0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0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0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0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0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0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0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0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2400" b="0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20 SQL queries with execution results</a:t>
            </a:r>
          </a:p>
        </p:txBody>
      </p:sp>
      <p:sp>
        <p:nvSpPr>
          <p:cNvPr id="5" name="cover-author">
            <a:extLst>
              <a:ext uri="{FF2B5EF4-FFF2-40B4-BE49-F238E27FC236}">
                <a16:creationId xmlns:a16="http://schemas.microsoft.com/office/drawing/2014/main" id="{596EED43-60D5-45DF-BF43-0F45F00A12CD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1047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Prepared by Rishu</a:t>
            </a:r>
            <a:r>
              <a:rPr lang="en-IN" sz="1875" b="0" dirty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 Gupta</a:t>
            </a:r>
            <a:endParaRPr sz="1875" b="0" dirty="0">
              <a:solidFill>
                <a:srgbClr val="A9BED0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9876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1EF10B10-FCF5-4AA2-A5A6-9894A29F0C96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09BC167F-1DE7-42A6-8AE4-880212ABEE31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BASIC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15E11D7E-4E65-413B-BB59-1BE0EA09DCFA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1. Retrieve all books in the "Fiction" genre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24E8E220-8746-43E9-8764-10117145EE15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* FROM Books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WHERE Genre = 'Fiction';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7E47BE11-263B-4EEB-8E6D-F8119C000A3C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720E15-2154-4981-93D4-2E7E9779DC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1" r="45077" b="3533"/>
          <a:stretch/>
        </p:blipFill>
        <p:spPr>
          <a:xfrm>
            <a:off x="609600" y="4067175"/>
            <a:ext cx="7902025" cy="2095500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0F201681-E10E-45EB-8DE1-B50F83F5173D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Visible excerpt: Fiction titles returned by the Genre filter.</a:t>
            </a:r>
          </a:p>
        </p:txBody>
      </p:sp>
    </p:spTree>
    <p:extLst>
      <p:ext uri="{BB962C8B-B14F-4D97-AF65-F5344CB8AC3E}">
        <p14:creationId xmlns:p14="http://schemas.microsoft.com/office/powerpoint/2010/main" val="1236291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4D40F5A4-A264-4BAE-AA4E-8A187E5E35DE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A88E0134-1ADB-4F74-80F4-2D4E35F0DFB2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BASIC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FEC14A34-60B2-4204-85B9-ACA77D7DF215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2. Find books published after the year 1950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D632443C-A592-4F7E-8425-AB8ABB168D72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* FROM books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WHERE Published_Year &gt; 1950;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08853F68-C549-48D3-A8A4-371504811572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51BE13-BE66-41E3-9CB9-23B22BBDE3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405" r="44825" b="2181"/>
          <a:stretch/>
        </p:blipFill>
        <p:spPr>
          <a:xfrm>
            <a:off x="609600" y="4067175"/>
            <a:ext cx="8060531" cy="2095500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B8DF2564-C99D-47DB-AF44-971E7F38E92D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dirty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Visible excerpt: all displayed publication years are later than 1950.</a:t>
            </a:r>
          </a:p>
        </p:txBody>
      </p:sp>
    </p:spTree>
    <p:extLst>
      <p:ext uri="{BB962C8B-B14F-4D97-AF65-F5344CB8AC3E}">
        <p14:creationId xmlns:p14="http://schemas.microsoft.com/office/powerpoint/2010/main" val="136778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0134AA17-188F-4AEF-BAC9-93510312C8FC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31A0CB81-57B2-460E-8D29-88E8F1EFA502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BASIC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DF553ECE-4D84-4FFD-97D2-9968607605D2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3. List all customers from the Canada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0D44E10F-5914-45B4-B39C-24ABC184E916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*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FROM Customers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WHERE Country = 'Canada';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D882C416-0B05-4B98-AAA0-55761565F703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C9A8BA-363B-4715-AE75-55B4B4734E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552" r="54346" b="16538"/>
          <a:stretch/>
        </p:blipFill>
        <p:spPr>
          <a:xfrm>
            <a:off x="609600" y="4067175"/>
            <a:ext cx="10972800" cy="1757210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04707624-02BA-4B71-A54A-3EE515B19927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3 Canadian customers are visible in the result grid.</a:t>
            </a:r>
          </a:p>
        </p:txBody>
      </p:sp>
    </p:spTree>
    <p:extLst>
      <p:ext uri="{BB962C8B-B14F-4D97-AF65-F5344CB8AC3E}">
        <p14:creationId xmlns:p14="http://schemas.microsoft.com/office/powerpoint/2010/main" val="650024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8396756D-1A7F-4D41-BB9B-AC02CFE59096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938AEC95-D325-438C-A470-4C429A71F78A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BASIC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03C3A9E7-704C-45BF-AD7D-C784F03BEC18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4. Show orders placed in November 2023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9C367D44-057C-407D-B7B9-1C40D52E97A9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*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FROM orders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WHERE Order_Date BETWEEN '2023-11-01' AND '2023-11-30';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1C4732B9-DB05-41D8-83F7-BBD708E9CC84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02E059-DA82-423C-8B7A-FA54520744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876" r="64825" b="2019"/>
          <a:stretch/>
        </p:blipFill>
        <p:spPr>
          <a:xfrm>
            <a:off x="609600" y="4067175"/>
            <a:ext cx="5012992" cy="2095500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622A130E-4F61-4B77-944F-33E65797A9DB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Visible excerpt: order dates fall within November 2023.</a:t>
            </a:r>
          </a:p>
        </p:txBody>
      </p:sp>
    </p:spTree>
    <p:extLst>
      <p:ext uri="{BB962C8B-B14F-4D97-AF65-F5344CB8AC3E}">
        <p14:creationId xmlns:p14="http://schemas.microsoft.com/office/powerpoint/2010/main" val="1075922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C960E45E-D262-4777-A095-F382E9DCE1DB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C40F7BDD-4804-4512-A58B-78DD40493B09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BASIC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6F838E50-79F5-47F8-B3FF-6171F326A8D6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5. Retrieve the total stock of books available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5891C1C1-7136-470E-A120-34729306F012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SUM(Stock) AS Total_Books_Available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FROM books;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56174903-118C-489D-8629-94FA5F94D7A9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FFB019-8E0A-432B-8D27-FC668E6E94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579" r="86601" b="21997"/>
          <a:stretch/>
        </p:blipFill>
        <p:spPr>
          <a:xfrm>
            <a:off x="609600" y="4067175"/>
            <a:ext cx="4061460" cy="1337310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8FA1E111-A355-47C7-AD3D-A52A1F808F2A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Total stock: 25,056 books.</a:t>
            </a:r>
          </a:p>
        </p:txBody>
      </p:sp>
    </p:spTree>
    <p:extLst>
      <p:ext uri="{BB962C8B-B14F-4D97-AF65-F5344CB8AC3E}">
        <p14:creationId xmlns:p14="http://schemas.microsoft.com/office/powerpoint/2010/main" val="1045805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39F01430-B758-46E5-9DCA-A46C6869CAF1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BC908DC1-4068-416E-B151-2C19EA42F8B5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BASIC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75A69640-5970-4871-8333-6B68A3597263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6. Find the details of the most expensive book.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8D7C4B09-3573-4C23-AD6C-63D95FA8F692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* FROM books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ORDER BY Price DESC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LIMIT 1;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03DF5EF2-D45D-40A8-9AB0-6C956CF87A11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0A2D1C-CD6D-4220-ADCB-9104DC257B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313" r="49797" b="21250"/>
          <a:stretch/>
        </p:blipFill>
        <p:spPr>
          <a:xfrm>
            <a:off x="609600" y="4067175"/>
            <a:ext cx="10972800" cy="960342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31F10374-C23B-4D02-8BE3-4056FAB4121F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Most expensive book: $49.98, Book_ID 340.</a:t>
            </a:r>
          </a:p>
        </p:txBody>
      </p:sp>
    </p:spTree>
    <p:extLst>
      <p:ext uri="{BB962C8B-B14F-4D97-AF65-F5344CB8AC3E}">
        <p14:creationId xmlns:p14="http://schemas.microsoft.com/office/powerpoint/2010/main" val="1330269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4535035F-C73D-4E24-A45D-FB040DDD40E6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E61E4517-3E1B-4E8F-872E-DADBFD7477A6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BASIC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FB606955-566B-4577-B838-7F7BCB4E8665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7. Show customers who ordered more than one quantity of a book.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4F7D870C-5621-4616-AB3F-25147087E31A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c.Customer_ID, c.Name, c.Email, c.Phone,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       c.City, c.Country, o.Quantity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FROM customers AS c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INNER JOIN orders AS o ON c.Customer_ID = o.Customer_ID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WHERE o.Quantity &gt; 1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ORDER BY o.Quantity ASC;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3FA03AB9-9420-4D7E-B987-F6A7A9C3DB39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227A00-FC61-4F68-8B2F-968C11D34A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034" r="32404"/>
          <a:stretch/>
        </p:blipFill>
        <p:spPr>
          <a:xfrm>
            <a:off x="609600" y="4067175"/>
            <a:ext cx="9700517" cy="2095500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0C8B7CCD-70A3-4A49-8138-5D0FE485E1FA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Visible excerpt: quantities are 2, sorted in ascending order.</a:t>
            </a:r>
          </a:p>
        </p:txBody>
      </p:sp>
    </p:spTree>
    <p:extLst>
      <p:ext uri="{BB962C8B-B14F-4D97-AF65-F5344CB8AC3E}">
        <p14:creationId xmlns:p14="http://schemas.microsoft.com/office/powerpoint/2010/main" val="138723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DEAB372A-74BF-4F48-B611-2E08CBBAC92B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AD3D8B31-34CA-4907-9206-12C4CE382181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BASIC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8CA672F5-C7FE-4B6C-A012-8E69B0184005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8. Retrieve orders where the total amount exceeds $20.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5FDD9869-EB9B-4019-A9DF-8642C1A621BC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*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FROM orders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WHERE Total_Amount &gt; 20;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20505D3F-390C-4054-8E82-8A7147D14EBA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04114-254F-4BF2-A137-B1A347844C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249" r="61220"/>
          <a:stretch/>
        </p:blipFill>
        <p:spPr>
          <a:xfrm>
            <a:off x="609600" y="4067175"/>
            <a:ext cx="5744560" cy="2095500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41316896-5782-4D96-B35A-4DFFF9B1A0B3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Visible excerpt: each displayed order amount exceeds $20.</a:t>
            </a:r>
          </a:p>
        </p:txBody>
      </p:sp>
    </p:spTree>
    <p:extLst>
      <p:ext uri="{BB962C8B-B14F-4D97-AF65-F5344CB8AC3E}">
        <p14:creationId xmlns:p14="http://schemas.microsoft.com/office/powerpoint/2010/main" val="811029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3AC95360-4140-4B39-98E4-2E3DDFE2B388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95383C52-5CA5-46D5-A7B4-790D1FA9501A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BASIC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D44BECE8-058E-4CA6-A3A3-B4659018F4DA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9. List all genres available in the Books table.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8D7CA6E3-A968-4CB2-9CB9-D8A31BA3D1D2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DISTINCT Genre FROM books;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763BBBFC-97F9-42A4-8F07-17EAB280DCFF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A4B549-CD7A-4A48-8915-0C46742D91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246" r="88365" b="3195"/>
          <a:stretch/>
        </p:blipFill>
        <p:spPr>
          <a:xfrm>
            <a:off x="609600" y="4067175"/>
            <a:ext cx="1872853" cy="2095500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7E73D383-8510-473C-A577-5C155BA0FCCC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7 genres: Biography, Fantasy, Non-Fiction, Fiction, Romance, Science Fiction and Mystery.</a:t>
            </a:r>
          </a:p>
        </p:txBody>
      </p:sp>
    </p:spTree>
    <p:extLst>
      <p:ext uri="{BB962C8B-B14F-4D97-AF65-F5344CB8AC3E}">
        <p14:creationId xmlns:p14="http://schemas.microsoft.com/office/powerpoint/2010/main" val="64934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F542BCFE-EE5D-4AB1-B143-7DEFB02C8FD4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FA14904E-965A-41E6-8360-2A25029C78CE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BASIC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E3A07D29-5E24-4FD6-8755-CFAAB5F05D8A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10. Find the book with the lowest stock.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DA21C59C-87F5-4D09-8F44-049D23AF96A6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* FROM books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ORDER BY Stock ASC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LIMIT 1;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7135C2B3-D23B-48FA-AE27-788A4A589130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2CFF65-1A71-4069-8A9A-1F3F70CFA3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115" r="49797" b="18429"/>
          <a:stretch/>
        </p:blipFill>
        <p:spPr>
          <a:xfrm>
            <a:off x="609600" y="4067175"/>
            <a:ext cx="10972800" cy="1049263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F3BA5493-CEB0-4DD9-827C-2EC53264C230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Lowest stock: 0 units, Book_ID 44.</a:t>
            </a:r>
          </a:p>
        </p:txBody>
      </p:sp>
    </p:spTree>
    <p:extLst>
      <p:ext uri="{BB962C8B-B14F-4D97-AF65-F5344CB8AC3E}">
        <p14:creationId xmlns:p14="http://schemas.microsoft.com/office/powerpoint/2010/main" val="1656477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2140DD2E-C882-42E6-B14D-0B38C9E7BB0D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2218DA19-DB51-4FDC-A28B-73DD83FF9212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BASIC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9F8CFB76-88BB-475D-8195-72FDB630BE11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11. Calculate the total revenue generated from all orders.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3318894E-068F-4CCD-8D69-A7BDE47A2C26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SUM(Total_Amount) AS Total_Revenue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FROM orders;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E3A3917D-ADDB-41AF-85A9-0A45EBDCFA9D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CC29A1-A9E1-DEFE-6DE0-6702B1BF0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603" y="4323811"/>
            <a:ext cx="2841043" cy="110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77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1750787E-4B89-4B88-87D3-B2B3E0EF44BE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4CD88713-4BEE-4454-8B7B-96509F7ABDF7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ADVANCED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08130844-FFD6-459B-84E6-F38D0E959AFC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1. Retrieve the total number of books sold for each genre: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4C4E9185-4411-4D2E-96E7-3655249E3950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b.Genre, SUM(o.Quantity) AS Total_Books_Sold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FROM orders o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JOIN books b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ON o.Book_ID = b.Book_ID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GROUP BY b.Genre;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1E71D913-ACD3-4DF7-8F6D-0AB8B7A036A3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A2906C-F400-4B91-93BC-30D0E08633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983" r="82324" b="2698"/>
          <a:stretch/>
        </p:blipFill>
        <p:spPr>
          <a:xfrm>
            <a:off x="609600" y="4067175"/>
            <a:ext cx="2794000" cy="2095500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91AC4A95-4B3C-428C-9EF4-E39D306DC0BB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lang="en-IN" dirty="0"/>
              <a:t>Science Fiction leads with 226 units; t</a:t>
            </a:r>
            <a:r>
              <a:rPr sz="1350" b="0" dirty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he seven genre totals sum to 1,304.</a:t>
            </a:r>
          </a:p>
        </p:txBody>
      </p:sp>
    </p:spTree>
    <p:extLst>
      <p:ext uri="{BB962C8B-B14F-4D97-AF65-F5344CB8AC3E}">
        <p14:creationId xmlns:p14="http://schemas.microsoft.com/office/powerpoint/2010/main" val="359808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63FA10C3-54F9-4275-8228-3847F4413C56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5218F70F-DD40-4869-8CD8-5D725E08F5CF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ADVANCED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05DE1481-7478-40DE-B5D8-2C7EC7F175E4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2. Find the average price of books in the "Fantasy" genre: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CF754D3D-BEEF-4320-BBE6-A75599CC46AE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Genre, AVG(Price) AS Average_Price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FROM books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WHERE Genre = "Fantasy";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51394393-2133-4990-ABFD-D5EE3B5C576C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9275C-1591-46A0-B276-3EF75D58DC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549" r="84913" b="19529"/>
          <a:stretch/>
        </p:blipFill>
        <p:spPr>
          <a:xfrm>
            <a:off x="609600" y="4067175"/>
            <a:ext cx="4531995" cy="1312545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BBD16492-B809-4E3B-BA7E-558CF6E6E561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Fantasy average price: $25.981690, approximately $25.98.</a:t>
            </a:r>
          </a:p>
        </p:txBody>
      </p:sp>
    </p:spTree>
    <p:extLst>
      <p:ext uri="{BB962C8B-B14F-4D97-AF65-F5344CB8AC3E}">
        <p14:creationId xmlns:p14="http://schemas.microsoft.com/office/powerpoint/2010/main" val="1454216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8FB1999C-4429-4759-883D-2947688397DD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C8D6D938-E690-425B-8668-736BFA42A940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ADVANCED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05A04184-D6DB-4000-81D7-ED19E67B594C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3. List customers who have placed at least 2 orders: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CA2BCADA-7565-4350-B95A-2260605720B7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c.Name, COUNT(o.Customer_ID) AS No_Of_Order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FROM Customers AS c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INNER JOIN orders AS o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ON c.Customer_ID = o.Customer_ID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GROUP BY c. Name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HAVING No_Of_Order &gt;=2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ORDER BY No_Of_Order DESC;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EDC3BE8C-10A5-4DC1-801A-459A9052E74C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FD6F43-434C-4860-9CCB-198FA59E1F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429" r="81367"/>
          <a:stretch/>
        </p:blipFill>
        <p:spPr>
          <a:xfrm>
            <a:off x="609600" y="4067175"/>
            <a:ext cx="2695896" cy="2095500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ACECF930-DB9B-417B-8ABB-420208C99100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Visible excerpt: Carrie Perez has 6 orders, followed by Anthony Young with 5.</a:t>
            </a:r>
          </a:p>
        </p:txBody>
      </p:sp>
    </p:spTree>
    <p:extLst>
      <p:ext uri="{BB962C8B-B14F-4D97-AF65-F5344CB8AC3E}">
        <p14:creationId xmlns:p14="http://schemas.microsoft.com/office/powerpoint/2010/main" val="1569711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431E506A-CB51-482C-8FA6-B617DF10AA28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47004E84-0148-4E82-A43A-C351069DDC8F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ADVANCED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C39BE2F0-5386-47EF-A9A2-ADD636F8AFEB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4. Find the most frequently ordered book: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281B88AD-2E78-46A9-8F9E-AB811AAA712E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b.Title, o.Book_ID, COUNT(o.Order_id) AS Order_Count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FROM orders o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INNER JOIN books b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ON o.Book_ID = b.Book_ID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GROUP BY o.Book_id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ORDER BY Order_Count DESC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LIMIT 1;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E3848C0D-4976-47E2-80D3-692AE9F96300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621502-67E9-4E74-A475-C868C42B23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682" r="73355" b="20603"/>
          <a:stretch/>
        </p:blipFill>
        <p:spPr>
          <a:xfrm>
            <a:off x="609600" y="4067175"/>
            <a:ext cx="8122920" cy="1436370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7B453291-FFAF-4AFB-AA60-32989AAA7299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Robust tangible hardware (Book_ID 88) appears in 4 order records.</a:t>
            </a:r>
          </a:p>
        </p:txBody>
      </p:sp>
    </p:spTree>
    <p:extLst>
      <p:ext uri="{BB962C8B-B14F-4D97-AF65-F5344CB8AC3E}">
        <p14:creationId xmlns:p14="http://schemas.microsoft.com/office/powerpoint/2010/main" val="664306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8C2214D5-8063-4D91-8C83-8CDDB385798D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4148E729-8C72-4702-9B59-1D9A21F2EF64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ADVANCED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6B0190F9-3599-4E5D-8ACB-A9367C8A130B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5. Show the top 3 most expensive books</a:t>
            </a:r>
          </a:p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of 'Fantasy' Genre: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8E07751F-9D46-4CF3-82C5-1EFFA3025FAB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* FROM books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WHERE Genre = "Fantasy"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ORDER BY Price DESC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LIMIT 3;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F7071712-86EC-4EF5-9632-6773B6FFB14C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B9A97E-0212-4CA1-A2F4-E56C529067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464" r="50610" b="13043"/>
          <a:stretch/>
        </p:blipFill>
        <p:spPr>
          <a:xfrm>
            <a:off x="609600" y="4067175"/>
            <a:ext cx="10972800" cy="1626939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64D2B313-44F0-43C0-8C63-93090532A793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Top Fantasy prices: $49.90, $49.23 and $48.97.</a:t>
            </a:r>
          </a:p>
        </p:txBody>
      </p:sp>
    </p:spTree>
    <p:extLst>
      <p:ext uri="{BB962C8B-B14F-4D97-AF65-F5344CB8AC3E}">
        <p14:creationId xmlns:p14="http://schemas.microsoft.com/office/powerpoint/2010/main" val="548326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14CF9C21-75EA-49AC-BF8D-C69DC336A9E6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23EBDD30-F940-4746-85B8-D347E2B18D03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ADVANCED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23B48141-FA88-4F47-B1E9-657B9E021783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6. Retrieve the total quantity of books sold by each author: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CD3A425A-79E5-46BC-895B-4FEE39497E7E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b.Author, SUM(o.Quantity) AS Quantity_sold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FROM orders o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JOIN books b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ON o.Book_ID = b.Book_ID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GROUP BY b.Author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ORDER BY Quantity_sold DESC;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E7D5BFE1-1FEC-4A48-9831-EBDD831158BE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DDA323-B30E-459A-B380-3C8F0767A1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856" r="81641"/>
          <a:stretch/>
        </p:blipFill>
        <p:spPr>
          <a:xfrm>
            <a:off x="609600" y="4067175"/>
            <a:ext cx="2505730" cy="2095500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6DB9B5FE-E758-4B7C-A867-19CDE5470548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Visible excerpt: Patrick Contreras leads with 28 units, followed by Melissa Taylor with 27.</a:t>
            </a:r>
          </a:p>
        </p:txBody>
      </p:sp>
    </p:spTree>
    <p:extLst>
      <p:ext uri="{BB962C8B-B14F-4D97-AF65-F5344CB8AC3E}">
        <p14:creationId xmlns:p14="http://schemas.microsoft.com/office/powerpoint/2010/main" val="451137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61BFA350-0969-43BF-82E4-2F6909A519A0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23F46054-CAE1-44EE-828F-8215A04D1D06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ADVANCED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E0D8F78F-B2DD-4376-A42A-99C24A9C2764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7. List the cities where customers who spent over $30 are located: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3AC0A92B-167B-4E2A-978C-81C9A6BB73D0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DISTINCT c.City, Total_Amount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FROM orders o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JOIN customers c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ON o.Customer_ID = c.Customer_ID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WHERE o. Total_Amount &gt; 30;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88F3014C-D915-49C7-97F3-C712E31123D9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41178A-F93B-4C81-BC98-954E7D0F33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224" r="82616"/>
          <a:stretch/>
        </p:blipFill>
        <p:spPr>
          <a:xfrm>
            <a:off x="609600" y="4067175"/>
            <a:ext cx="2477552" cy="2095500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19148FB1-4731-46BF-A3A1-0A2AF163216F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Visible excerpt: cities associated with individual orders above $30.</a:t>
            </a:r>
          </a:p>
        </p:txBody>
      </p:sp>
    </p:spTree>
    <p:extLst>
      <p:ext uri="{BB962C8B-B14F-4D97-AF65-F5344CB8AC3E}">
        <p14:creationId xmlns:p14="http://schemas.microsoft.com/office/powerpoint/2010/main" val="396904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ED79B8FD-629E-4418-93F3-A75E54D8243E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E2522EC9-7B9A-43DE-B7A3-78FC9497ADAC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ADVANCED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97B87EA0-E468-49CF-9C9A-6E07A6BA6F73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8. Find the customer who spent the most on orders: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D274CCED-7713-4045-BEA0-3A29BDD2717F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10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c.Customer_ID, c.Name, SUM(o.Total_Amount) AS Total_Spent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FROM customers c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JOIN orders o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ON c.Customer_ID = o.Customer_ID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GROUP BY c.Customer_ID , c.Name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ORDER BY Total_Spent DESC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LIMIT 1;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C88108CB-9693-42B7-8A20-E10F0FFD18CC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AD3FED-ED46-4A82-9F59-5956551166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518" r="78763" b="20684"/>
          <a:stretch/>
        </p:blipFill>
        <p:spPr>
          <a:xfrm>
            <a:off x="609600" y="4067175"/>
            <a:ext cx="6463665" cy="1560195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B20A7DCF-5973-4B91-83A1-5981680564AB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Highest total spend: Kim Turner (Customer_ID 457), $1,398.90.</a:t>
            </a:r>
          </a:p>
        </p:txBody>
      </p:sp>
    </p:spTree>
    <p:extLst>
      <p:ext uri="{BB962C8B-B14F-4D97-AF65-F5344CB8AC3E}">
        <p14:creationId xmlns:p14="http://schemas.microsoft.com/office/powerpoint/2010/main" val="514288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number">
            <a:extLst>
              <a:ext uri="{FF2B5EF4-FFF2-40B4-BE49-F238E27FC236}">
                <a16:creationId xmlns:a16="http://schemas.microsoft.com/office/drawing/2014/main" id="{C626B3BB-552B-4B03-8153-1F0A157CEF0A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D9E34CA2-487D-4C02-891A-50097E50D48C}"/>
              </a:ext>
            </a:extLst>
          </p:cNvPr>
          <p:cNvSpPr>
            <a:spLocks noGrp="1"/>
          </p:cNvSpPr>
          <p:nvPr/>
        </p:nvSpPr>
        <p:spPr>
          <a:xfrm>
            <a:off x="609600" y="22860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500" b="1">
                <a:solidFill>
                  <a:srgbClr val="79D8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79D8F7"/>
                </a:solidFill>
                <a:latin typeface="DejaVu Sans"/>
                <a:ea typeface="DejaVu Sans"/>
                <a:cs typeface="DejaVu Sans"/>
              </a:rPr>
              <a:t>ADVANCED QUESTIONS</a:t>
            </a:r>
          </a:p>
        </p:txBody>
      </p:sp>
      <p:sp>
        <p:nvSpPr>
          <p:cNvPr id="3" name="question">
            <a:extLst>
              <a:ext uri="{FF2B5EF4-FFF2-40B4-BE49-F238E27FC236}">
                <a16:creationId xmlns:a16="http://schemas.microsoft.com/office/drawing/2014/main" id="{22CC7F3B-0536-4AC7-A996-FC3B8C9FBFC1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9728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150" b="1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9. Calculate the stock remaining after fulfilling all orders:</a:t>
            </a:r>
          </a:p>
        </p:txBody>
      </p:sp>
      <p:sp>
        <p:nvSpPr>
          <p:cNvPr id="4" name="sql">
            <a:extLst>
              <a:ext uri="{FF2B5EF4-FFF2-40B4-BE49-F238E27FC236}">
                <a16:creationId xmlns:a16="http://schemas.microsoft.com/office/drawing/2014/main" id="{45B21A8A-4F02-4819-A49A-8912D5F29305}"/>
              </a:ext>
            </a:extLst>
          </p:cNvPr>
          <p:cNvSpPr>
            <a:spLocks noGrp="1"/>
          </p:cNvSpPr>
          <p:nvPr/>
        </p:nvSpPr>
        <p:spPr>
          <a:xfrm>
            <a:off x="628650" y="1647825"/>
            <a:ext cx="10953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1875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SELECT b.Book_ID, b.Title, b.Stock,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       COALESCE(SUM(o.Quantity), 0) AS Quantity_sold,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       (b.Stock - COALESCE(SUM(o.Quantity), 0)) AS Available_Quantity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FROM books b LEFT JOIN orders o ON b.Book_ID = o.Book_ID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79D8F7"/>
                </a:solidFill>
                <a:latin typeface="DejaVu Sans Mono"/>
                <a:ea typeface="DejaVu Sans Mono"/>
                <a:cs typeface="DejaVu Sans Mono"/>
              </a:rPr>
              <a:t>GROUP BY b.Book_ID, b.Stock;</a:t>
            </a:r>
          </a:p>
        </p:txBody>
      </p:sp>
      <p:sp>
        <p:nvSpPr>
          <p:cNvPr id="6" name="result-label">
            <a:extLst>
              <a:ext uri="{FF2B5EF4-FFF2-40B4-BE49-F238E27FC236}">
                <a16:creationId xmlns:a16="http://schemas.microsoft.com/office/drawing/2014/main" id="{597FCC37-974A-478A-B0FA-DCDB958F14C2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9BED0"/>
                </a:solidFill>
                <a:latin typeface="DejaVu Sans"/>
                <a:ea typeface="DejaVu Sans"/>
                <a:cs typeface="DejaVu Sans"/>
              </a:rPr>
              <a:t>QUERY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EBDAD4-42A8-46C5-A636-1FA19A35DB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570" r="56783"/>
          <a:stretch/>
        </p:blipFill>
        <p:spPr>
          <a:xfrm>
            <a:off x="609600" y="4067175"/>
            <a:ext cx="5993581" cy="2095500"/>
          </a:xfrm>
          <a:prstGeom prst="rect">
            <a:avLst/>
          </a:prstGeom>
        </p:spPr>
      </p:pic>
      <p:sp>
        <p:nvSpPr>
          <p:cNvPr id="8" name="result-caption">
            <a:extLst>
              <a:ext uri="{FF2B5EF4-FFF2-40B4-BE49-F238E27FC236}">
                <a16:creationId xmlns:a16="http://schemas.microsoft.com/office/drawing/2014/main" id="{BBB14DCD-EB12-4953-ACEC-83648E4E2CCC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0000"/>
              </a:lnSpc>
              <a:buNone/>
              <a:def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AFC"/>
                </a:solidFill>
                <a:latin typeface="DejaVu Sans"/>
                <a:ea typeface="DejaVu Sans"/>
                <a:cs typeface="DejaVu Sans"/>
              </a:rPr>
              <a:t>Visible excerpt: Book_ID 1 has 97 units remaining (100 stock minus 3 sold).</a:t>
            </a:r>
          </a:p>
        </p:txBody>
      </p:sp>
    </p:spTree>
    <p:extLst>
      <p:ext uri="{BB962C8B-B14F-4D97-AF65-F5344CB8AC3E}">
        <p14:creationId xmlns:p14="http://schemas.microsoft.com/office/powerpoint/2010/main" val="1646527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number">
            <a:extLst>
              <a:ext uri="{FF2B5EF4-FFF2-40B4-BE49-F238E27FC236}">
                <a16:creationId xmlns:a16="http://schemas.microsoft.com/office/drawing/2014/main" id="{461A848B-65EB-45A3-9671-9BBE6009C1F7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2" name="insights-title">
            <a:extLst>
              <a:ext uri="{FF2B5EF4-FFF2-40B4-BE49-F238E27FC236}">
                <a16:creationId xmlns:a16="http://schemas.microsoft.com/office/drawing/2014/main" id="{98C8C558-9BCD-4803-AC06-7F35A911294E}"/>
              </a:ext>
            </a:extLst>
          </p:cNvPr>
          <p:cNvSpPr>
            <a:spLocks noGrp="1"/>
          </p:cNvSpPr>
          <p:nvPr/>
        </p:nvSpPr>
        <p:spPr>
          <a:xfrm>
            <a:off x="723900" y="476250"/>
            <a:ext cx="10572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Results at a glance</a:t>
            </a:r>
          </a:p>
        </p:txBody>
      </p:sp>
      <p:sp>
        <p:nvSpPr>
          <p:cNvPr id="3" name="insight-heading-0">
            <a:extLst>
              <a:ext uri="{FF2B5EF4-FFF2-40B4-BE49-F238E27FC236}">
                <a16:creationId xmlns:a16="http://schemas.microsoft.com/office/drawing/2014/main" id="{857476D8-83B5-4104-8A80-4636B4FA943E}"/>
              </a:ext>
            </a:extLst>
          </p:cNvPr>
          <p:cNvSpPr>
            <a:spLocks noGrp="1"/>
          </p:cNvSpPr>
          <p:nvPr/>
        </p:nvSpPr>
        <p:spPr>
          <a:xfrm>
            <a:off x="723900" y="147637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rPr>
              <a:t>Recorded revenue</a:t>
            </a:r>
          </a:p>
        </p:txBody>
      </p:sp>
      <p:sp>
        <p:nvSpPr>
          <p:cNvPr id="4" name="insight-body-0">
            <a:extLst>
              <a:ext uri="{FF2B5EF4-FFF2-40B4-BE49-F238E27FC236}">
                <a16:creationId xmlns:a16="http://schemas.microsoft.com/office/drawing/2014/main" id="{E2962BE7-6666-4EF7-AA16-4640F997C8BE}"/>
              </a:ext>
            </a:extLst>
          </p:cNvPr>
          <p:cNvSpPr>
            <a:spLocks noGrp="1"/>
          </p:cNvSpPr>
          <p:nvPr/>
        </p:nvSpPr>
        <p:spPr>
          <a:xfrm>
            <a:off x="723900" y="1971675"/>
            <a:ext cx="10668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65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lang="en-IN" sz="4650" dirty="0">
                <a:solidFill>
                  <a:srgbClr val="0A66C2"/>
                </a:solidFill>
              </a:rPr>
              <a:t>$75,628.66</a:t>
            </a:r>
            <a:endParaRPr sz="4650" dirty="0">
              <a:solidFill>
                <a:srgbClr val="0A66C2"/>
              </a:solidFill>
            </a:endParaRPr>
          </a:p>
        </p:txBody>
      </p:sp>
      <p:sp>
        <p:nvSpPr>
          <p:cNvPr id="5" name="insight-heading-1">
            <a:extLst>
              <a:ext uri="{FF2B5EF4-FFF2-40B4-BE49-F238E27FC236}">
                <a16:creationId xmlns:a16="http://schemas.microsoft.com/office/drawing/2014/main" id="{CC268D03-329A-4BE1-AF45-28CCA3E7571F}"/>
              </a:ext>
            </a:extLst>
          </p:cNvPr>
          <p:cNvSpPr>
            <a:spLocks noGrp="1"/>
          </p:cNvSpPr>
          <p:nvPr/>
        </p:nvSpPr>
        <p:spPr>
          <a:xfrm>
            <a:off x="723900" y="342900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rPr>
              <a:t>Total stock</a:t>
            </a:r>
          </a:p>
        </p:txBody>
      </p:sp>
      <p:sp>
        <p:nvSpPr>
          <p:cNvPr id="6" name="insight-body-1">
            <a:extLst>
              <a:ext uri="{FF2B5EF4-FFF2-40B4-BE49-F238E27FC236}">
                <a16:creationId xmlns:a16="http://schemas.microsoft.com/office/drawing/2014/main" id="{DA64493A-26F9-4CC6-BA1C-5EDB056F2711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0668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465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4650" b="0">
                <a:solidFill>
                  <a:srgbClr val="0A66C2"/>
                </a:solidFill>
                <a:latin typeface="DejaVu Sans"/>
                <a:ea typeface="DejaVu Sans"/>
                <a:cs typeface="DejaVu Sans"/>
              </a:rPr>
              <a:t>25,056 books</a:t>
            </a:r>
          </a:p>
        </p:txBody>
      </p:sp>
    </p:spTree>
    <p:extLst>
      <p:ext uri="{BB962C8B-B14F-4D97-AF65-F5344CB8AC3E}">
        <p14:creationId xmlns:p14="http://schemas.microsoft.com/office/powerpoint/2010/main" val="117380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number">
            <a:extLst>
              <a:ext uri="{FF2B5EF4-FFF2-40B4-BE49-F238E27FC236}">
                <a16:creationId xmlns:a16="http://schemas.microsoft.com/office/drawing/2014/main" id="{4FD38FCD-E53E-4FBE-8D72-D35D1859E511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2" name="insights-title">
            <a:extLst>
              <a:ext uri="{FF2B5EF4-FFF2-40B4-BE49-F238E27FC236}">
                <a16:creationId xmlns:a16="http://schemas.microsoft.com/office/drawing/2014/main" id="{FCF47066-79C5-4D7F-A1A8-FD0273E1953B}"/>
              </a:ext>
            </a:extLst>
          </p:cNvPr>
          <p:cNvSpPr>
            <a:spLocks noGrp="1"/>
          </p:cNvSpPr>
          <p:nvPr/>
        </p:nvSpPr>
        <p:spPr>
          <a:xfrm>
            <a:off x="723900" y="476250"/>
            <a:ext cx="10572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Genre demand</a:t>
            </a:r>
          </a:p>
        </p:txBody>
      </p:sp>
      <p:sp>
        <p:nvSpPr>
          <p:cNvPr id="3" name="insight-heading-0">
            <a:extLst>
              <a:ext uri="{FF2B5EF4-FFF2-40B4-BE49-F238E27FC236}">
                <a16:creationId xmlns:a16="http://schemas.microsoft.com/office/drawing/2014/main" id="{EDBD6A6F-37E7-4353-ACC5-01382E9E62D5}"/>
              </a:ext>
            </a:extLst>
          </p:cNvPr>
          <p:cNvSpPr>
            <a:spLocks noGrp="1"/>
          </p:cNvSpPr>
          <p:nvPr/>
        </p:nvSpPr>
        <p:spPr>
          <a:xfrm>
            <a:off x="723900" y="147637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rPr>
              <a:t>Units sold by genre</a:t>
            </a:r>
          </a:p>
        </p:txBody>
      </p:sp>
      <p:sp>
        <p:nvSpPr>
          <p:cNvPr id="4" name="insight-body-0">
            <a:extLst>
              <a:ext uri="{FF2B5EF4-FFF2-40B4-BE49-F238E27FC236}">
                <a16:creationId xmlns:a16="http://schemas.microsoft.com/office/drawing/2014/main" id="{24638679-7F7C-4515-AB21-DAB359A03465}"/>
              </a:ext>
            </a:extLst>
          </p:cNvPr>
          <p:cNvSpPr>
            <a:spLocks noGrp="1"/>
          </p:cNvSpPr>
          <p:nvPr/>
        </p:nvSpPr>
        <p:spPr>
          <a:xfrm>
            <a:off x="723900" y="1971675"/>
            <a:ext cx="10668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Science Fiction leads with 226 units.</a:t>
            </a:r>
          </a:p>
        </p:txBody>
      </p:sp>
      <p:sp>
        <p:nvSpPr>
          <p:cNvPr id="5" name="insight-heading-1">
            <a:extLst>
              <a:ext uri="{FF2B5EF4-FFF2-40B4-BE49-F238E27FC236}">
                <a16:creationId xmlns:a16="http://schemas.microsoft.com/office/drawing/2014/main" id="{8B5E2A56-EDCC-4C22-A023-E2C609AF7BD6}"/>
              </a:ext>
            </a:extLst>
          </p:cNvPr>
          <p:cNvSpPr>
            <a:spLocks noGrp="1"/>
          </p:cNvSpPr>
          <p:nvPr/>
        </p:nvSpPr>
        <p:spPr>
          <a:xfrm>
            <a:off x="723900" y="342900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rPr>
              <a:t>Total across the seven displayed genres</a:t>
            </a:r>
          </a:p>
        </p:txBody>
      </p:sp>
      <p:sp>
        <p:nvSpPr>
          <p:cNvPr id="6" name="insight-body-1">
            <a:extLst>
              <a:ext uri="{FF2B5EF4-FFF2-40B4-BE49-F238E27FC236}">
                <a16:creationId xmlns:a16="http://schemas.microsoft.com/office/drawing/2014/main" id="{697BE819-E706-4075-BF83-2212CF5250D0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0668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1,304 units</a:t>
            </a:r>
          </a:p>
        </p:txBody>
      </p:sp>
    </p:spTree>
    <p:extLst>
      <p:ext uri="{BB962C8B-B14F-4D97-AF65-F5344CB8AC3E}">
        <p14:creationId xmlns:p14="http://schemas.microsoft.com/office/powerpoint/2010/main" val="1742051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number">
            <a:extLst>
              <a:ext uri="{FF2B5EF4-FFF2-40B4-BE49-F238E27FC236}">
                <a16:creationId xmlns:a16="http://schemas.microsoft.com/office/drawing/2014/main" id="{7391DADD-62F7-4487-8D5D-5086C1B6D210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2" name="insights-title">
            <a:extLst>
              <a:ext uri="{FF2B5EF4-FFF2-40B4-BE49-F238E27FC236}">
                <a16:creationId xmlns:a16="http://schemas.microsoft.com/office/drawing/2014/main" id="{C00E3843-B65E-4AE2-8ABD-FE793FC73CD2}"/>
              </a:ext>
            </a:extLst>
          </p:cNvPr>
          <p:cNvSpPr>
            <a:spLocks noGrp="1"/>
          </p:cNvSpPr>
          <p:nvPr/>
        </p:nvSpPr>
        <p:spPr>
          <a:xfrm>
            <a:off x="723900" y="476250"/>
            <a:ext cx="10572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Customer and product leaders</a:t>
            </a:r>
          </a:p>
        </p:txBody>
      </p:sp>
      <p:sp>
        <p:nvSpPr>
          <p:cNvPr id="3" name="insight-heading-0">
            <a:extLst>
              <a:ext uri="{FF2B5EF4-FFF2-40B4-BE49-F238E27FC236}">
                <a16:creationId xmlns:a16="http://schemas.microsoft.com/office/drawing/2014/main" id="{D503E126-BB66-43F9-B2B1-7C96DA40AB5B}"/>
              </a:ext>
            </a:extLst>
          </p:cNvPr>
          <p:cNvSpPr>
            <a:spLocks noGrp="1"/>
          </p:cNvSpPr>
          <p:nvPr/>
        </p:nvSpPr>
        <p:spPr>
          <a:xfrm>
            <a:off x="723900" y="147637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rPr>
              <a:t>Top customer</a:t>
            </a:r>
          </a:p>
        </p:txBody>
      </p:sp>
      <p:sp>
        <p:nvSpPr>
          <p:cNvPr id="4" name="insight-body-0">
            <a:extLst>
              <a:ext uri="{FF2B5EF4-FFF2-40B4-BE49-F238E27FC236}">
                <a16:creationId xmlns:a16="http://schemas.microsoft.com/office/drawing/2014/main" id="{8A9E5784-48E4-45A9-841D-25DB49B43484}"/>
              </a:ext>
            </a:extLst>
          </p:cNvPr>
          <p:cNvSpPr>
            <a:spLocks noGrp="1"/>
          </p:cNvSpPr>
          <p:nvPr/>
        </p:nvSpPr>
        <p:spPr>
          <a:xfrm>
            <a:off x="723900" y="1971675"/>
            <a:ext cx="10668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Kim Turner spent $1,398.90 across orders.</a:t>
            </a:r>
          </a:p>
        </p:txBody>
      </p:sp>
      <p:sp>
        <p:nvSpPr>
          <p:cNvPr id="5" name="insight-heading-1">
            <a:extLst>
              <a:ext uri="{FF2B5EF4-FFF2-40B4-BE49-F238E27FC236}">
                <a16:creationId xmlns:a16="http://schemas.microsoft.com/office/drawing/2014/main" id="{F2ACEFC4-DD79-4E4F-91B9-DEC7D7772A62}"/>
              </a:ext>
            </a:extLst>
          </p:cNvPr>
          <p:cNvSpPr>
            <a:spLocks noGrp="1"/>
          </p:cNvSpPr>
          <p:nvPr/>
        </p:nvSpPr>
        <p:spPr>
          <a:xfrm>
            <a:off x="723900" y="342900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rPr>
              <a:t>Most frequently ordered book</a:t>
            </a:r>
          </a:p>
        </p:txBody>
      </p:sp>
      <p:sp>
        <p:nvSpPr>
          <p:cNvPr id="6" name="insight-body-1">
            <a:extLst>
              <a:ext uri="{FF2B5EF4-FFF2-40B4-BE49-F238E27FC236}">
                <a16:creationId xmlns:a16="http://schemas.microsoft.com/office/drawing/2014/main" id="{865C36C9-0F3E-486F-823B-107FA572FC23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0668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Robust tangible hardware appears in 4 order records.</a:t>
            </a:r>
          </a:p>
        </p:txBody>
      </p:sp>
    </p:spTree>
    <p:extLst>
      <p:ext uri="{BB962C8B-B14F-4D97-AF65-F5344CB8AC3E}">
        <p14:creationId xmlns:p14="http://schemas.microsoft.com/office/powerpoint/2010/main" val="1039993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number">
            <a:extLst>
              <a:ext uri="{FF2B5EF4-FFF2-40B4-BE49-F238E27FC236}">
                <a16:creationId xmlns:a16="http://schemas.microsoft.com/office/drawing/2014/main" id="{C7F66F66-828C-4572-986F-6CB5336AC882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0A66C2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2" name="insights-title">
            <a:extLst>
              <a:ext uri="{FF2B5EF4-FFF2-40B4-BE49-F238E27FC236}">
                <a16:creationId xmlns:a16="http://schemas.microsoft.com/office/drawing/2014/main" id="{A16AF87F-6E78-4763-8FB3-6FB31FB9BEE0}"/>
              </a:ext>
            </a:extLst>
          </p:cNvPr>
          <p:cNvSpPr>
            <a:spLocks noGrp="1"/>
          </p:cNvSpPr>
          <p:nvPr/>
        </p:nvSpPr>
        <p:spPr>
          <a:xfrm>
            <a:off x="723900" y="476250"/>
            <a:ext cx="10572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Project findings and data scope</a:t>
            </a:r>
          </a:p>
        </p:txBody>
      </p:sp>
      <p:sp>
        <p:nvSpPr>
          <p:cNvPr id="3" name="insight-heading-0">
            <a:extLst>
              <a:ext uri="{FF2B5EF4-FFF2-40B4-BE49-F238E27FC236}">
                <a16:creationId xmlns:a16="http://schemas.microsoft.com/office/drawing/2014/main" id="{CB03CECD-E7E1-4442-BFB0-9A5D5A111090}"/>
              </a:ext>
            </a:extLst>
          </p:cNvPr>
          <p:cNvSpPr>
            <a:spLocks noGrp="1"/>
          </p:cNvSpPr>
          <p:nvPr/>
        </p:nvSpPr>
        <p:spPr>
          <a:xfrm>
            <a:off x="723900" y="147637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A66C2"/>
                </a:solidFill>
                <a:latin typeface="DejaVu Sans"/>
                <a:ea typeface="DejaVu Sans"/>
                <a:cs typeface="DejaVu Sans"/>
              </a:rPr>
              <a:t>Inventory and pricing</a:t>
            </a:r>
          </a:p>
        </p:txBody>
      </p:sp>
      <p:sp>
        <p:nvSpPr>
          <p:cNvPr id="4" name="insight-body-0">
            <a:extLst>
              <a:ext uri="{FF2B5EF4-FFF2-40B4-BE49-F238E27FC236}">
                <a16:creationId xmlns:a16="http://schemas.microsoft.com/office/drawing/2014/main" id="{C4492C67-9BE1-4CAA-B82B-303C32A4718F}"/>
              </a:ext>
            </a:extLst>
          </p:cNvPr>
          <p:cNvSpPr>
            <a:spLocks noGrp="1"/>
          </p:cNvSpPr>
          <p:nvPr/>
        </p:nvSpPr>
        <p:spPr>
          <a:xfrm>
            <a:off x="723900" y="1971675"/>
            <a:ext cx="10668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Book_ID 44 has no stock. The most expensive book is $49.98. Fantasy books average $25.98.</a:t>
            </a:r>
          </a:p>
        </p:txBody>
      </p:sp>
    </p:spTree>
    <p:extLst>
      <p:ext uri="{BB962C8B-B14F-4D97-AF65-F5344CB8AC3E}">
        <p14:creationId xmlns:p14="http://schemas.microsoft.com/office/powerpoint/2010/main" val="11746980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3265</Words>
  <Application>Microsoft Office PowerPoint</Application>
  <DocSecurity>0</DocSecurity>
  <PresentationFormat>Widescreen</PresentationFormat>
  <Paragraphs>232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DejaVu Sans</vt:lpstr>
      <vt:lpstr>DejaVu Sans Mono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Rishu Gupta</cp:lastModifiedBy>
  <cp:revision>1</cp:revision>
  <dcterms:created xsi:type="dcterms:W3CDTF">2026-10-17T11:11:02Z</dcterms:created>
  <dcterms:modified xsi:type="dcterms:W3CDTF">2026-10-17T11:25:03Z</dcterms:modified>
</cp:coreProperties>
</file>